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 id="256"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2F36F8-7702-BD89-994A-54E511057903}" v="65" dt="2026-06-26T09:51:58.579"/>
    <p1510:client id="{C6A4FBA5-758E-765E-D63E-04A4B9C383E1}" v="68" dt="2026-06-26T10:31:29.0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6/26/2026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6/26/2026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6/26/2026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
        <p:nvSpPr>
          <p:cNvPr id="8" name="TextBox 7">
            <a:extLst>
              <a:ext uri="{FF2B5EF4-FFF2-40B4-BE49-F238E27FC236}">
                <a16:creationId xmlns:a16="http://schemas.microsoft.com/office/drawing/2014/main" id="{F9268F0A-FD04-CE17-91D5-554B6B8A794B}"/>
              </a:ext>
            </a:extLst>
          </p:cNvPr>
          <p:cNvSpPr txBox="1"/>
          <p:nvPr>
            <p:extLst>
              <p:ext uri="{1162E1C5-73C7-4A58-AE30-91384D911F3F}">
                <p184:classification xmlns:p184="http://schemas.microsoft.com/office/powerpoint/2018/4/main" val="ftr"/>
              </p:ext>
            </p:extLst>
          </p:nvPr>
        </p:nvSpPr>
        <p:spPr>
          <a:xfrm>
            <a:off x="63500" y="6642100"/>
            <a:ext cx="122237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Internal - General Use</a:t>
            </a:r>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955C228-CA7E-0B59-2351-59B1A67DA9A3}"/>
              </a:ext>
            </a:extLst>
          </p:cNvPr>
          <p:cNvSpPr txBox="1"/>
          <p:nvPr/>
        </p:nvSpPr>
        <p:spPr>
          <a:xfrm>
            <a:off x="1494972" y="1317172"/>
            <a:ext cx="7649028"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Raji's </a:t>
            </a:r>
            <a:br>
              <a:rPr lang="en-US" b="1" dirty="0"/>
            </a:br>
            <a:br>
              <a:rPr lang="en-US" b="1" dirty="0"/>
            </a:br>
            <a:r>
              <a:rPr lang="en-US" b="1" dirty="0"/>
              <a:t>Heartiest congratulations, Subhashini, on achieving this incredible milestone! 🎉</a:t>
            </a:r>
            <a:br>
              <a:rPr lang="en-US" dirty="0"/>
            </a:br>
            <a:r>
              <a:rPr lang="en-US" dirty="0"/>
              <a:t>You truly deserve every bit of this </a:t>
            </a:r>
            <a:r>
              <a:rPr lang="en-US" dirty="0" err="1"/>
              <a:t>success.Your</a:t>
            </a:r>
            <a:r>
              <a:rPr lang="en-US" dirty="0"/>
              <a:t> commitment and dedication to your work have always been inspiring. You are not just a colleague but a wonderful mentor to all of us—I still cherish the days when you patiently taught me the core concepts of </a:t>
            </a:r>
            <a:r>
              <a:rPr lang="en-US" dirty="0" err="1"/>
              <a:t>OPS.What</a:t>
            </a:r>
            <a:r>
              <a:rPr lang="en-US" dirty="0"/>
              <a:t> I admire the most is your amazing ability to balance both work and family with the same energy and enthusiasm every single day. That consistency and positivity are truly </a:t>
            </a:r>
            <a:r>
              <a:rPr lang="en-US" dirty="0" err="1"/>
              <a:t>motivating.You</a:t>
            </a:r>
            <a:r>
              <a:rPr lang="en-US" dirty="0"/>
              <a:t> have always been a strong pillar of support for our team—someone we can rely on anytime. Your guidance, encouragement, and positive attitude make a big difference to all of </a:t>
            </a:r>
            <a:r>
              <a:rPr lang="en-US" dirty="0" err="1"/>
              <a:t>us.Wishing</a:t>
            </a:r>
            <a:r>
              <a:rPr lang="en-US" dirty="0"/>
              <a:t> you many more milestones and continued success ahead. Keep inspiring us always! 💐</a:t>
            </a:r>
          </a:p>
          <a:p>
            <a:pPr algn="ctr"/>
            <a:endParaRPr lang="en-US"/>
          </a:p>
        </p:txBody>
      </p:sp>
    </p:spTree>
    <p:extLst>
      <p:ext uri="{BB962C8B-B14F-4D97-AF65-F5344CB8AC3E}">
        <p14:creationId xmlns:p14="http://schemas.microsoft.com/office/powerpoint/2010/main" val="2998849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52F6B-C1BE-76A9-AE6B-48E9C481623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3CD40EB-ADF6-50AF-6F7D-FA5A00F7E8BA}"/>
              </a:ext>
            </a:extLst>
          </p:cNvPr>
          <p:cNvSpPr txBox="1"/>
          <p:nvPr/>
        </p:nvSpPr>
        <p:spPr>
          <a:xfrm>
            <a:off x="3048000" y="2405743"/>
            <a:ext cx="6096000" cy="25391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Syed's </a:t>
            </a:r>
            <a:br>
              <a:rPr lang="en-US" dirty="0"/>
            </a:br>
            <a:br>
              <a:rPr lang="en-US" dirty="0"/>
            </a:br>
            <a:r>
              <a:rPr lang="en-US"/>
              <a:t>Congratulations</a:t>
            </a:r>
            <a:r>
              <a:rPr lang="en-US" dirty="0"/>
              <a:t> on completing 15 years with Wipro! It has been an incredible experience working with you. wish you many more successful milestones and successful years ahead.</a:t>
            </a:r>
          </a:p>
          <a:p>
            <a:pPr algn="ctr"/>
            <a:endParaRPr lang="en-US"/>
          </a:p>
          <a:p>
            <a:pPr algn="ctr"/>
            <a:r>
              <a:rPr lang="en-US" sz="1100">
                <a:solidFill>
                  <a:srgbClr val="025AA2"/>
                </a:solidFill>
                <a:highlight>
                  <a:srgbClr val="F4F9FD"/>
                </a:highlight>
              </a:rPr>
              <a:t>Congratulations</a:t>
            </a:r>
            <a:r>
              <a:rPr lang="en-US" sz="1100">
                <a:highlight>
                  <a:srgbClr val="FFFFFF"/>
                </a:highlight>
              </a:rPr>
              <a:t> on completing 15 years with Wipro! Your dedication, consistency, and supportive nature have been invaluable to the team. It’s inspiring to see your commitment over the years. Wishing you many more milestones and continued success ahead.</a:t>
            </a:r>
            <a:endParaRPr lang="en-US"/>
          </a:p>
        </p:txBody>
      </p:sp>
    </p:spTree>
    <p:extLst>
      <p:ext uri="{BB962C8B-B14F-4D97-AF65-F5344CB8AC3E}">
        <p14:creationId xmlns:p14="http://schemas.microsoft.com/office/powerpoint/2010/main" val="4277210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73F34-778A-BC81-8422-BF8622EC082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2D53F48-553D-693D-3EA3-6C10551C82A1}"/>
              </a:ext>
            </a:extLst>
          </p:cNvPr>
          <p:cNvSpPr txBox="1"/>
          <p:nvPr/>
        </p:nvSpPr>
        <p:spPr>
          <a:xfrm>
            <a:off x="2569029" y="1992086"/>
            <a:ext cx="609600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Surekha </a:t>
            </a:r>
            <a:r>
              <a:rPr lang="en-US" dirty="0" err="1">
                <a:ea typeface="+mn-lt"/>
                <a:cs typeface="+mn-lt"/>
              </a:rPr>
              <a:t>Devalaraju</a:t>
            </a:r>
            <a:endParaRPr lang="en-US" dirty="0" err="1"/>
          </a:p>
          <a:p>
            <a:endParaRPr lang="en-US" dirty="0"/>
          </a:p>
          <a:p>
            <a:r>
              <a:rPr lang="en-US" dirty="0"/>
              <a:t>Hearty Congratulations Subhashini for reaching this 15 years milestone 😊. I know you professional &amp; Personal front both for more than 7+ years. Nice to work with you, you were so friendly to me personally, you are very much dedicated, Hardworking and have good commitment @ work. Keep up the same &amp; wish you to get many more Achievements like this 😊</a:t>
            </a:r>
            <a:endParaRPr lang="en-US"/>
          </a:p>
          <a:p>
            <a:pPr algn="ctr"/>
            <a:endParaRPr lang="en-US"/>
          </a:p>
        </p:txBody>
      </p:sp>
    </p:spTree>
    <p:extLst>
      <p:ext uri="{BB962C8B-B14F-4D97-AF65-F5344CB8AC3E}">
        <p14:creationId xmlns:p14="http://schemas.microsoft.com/office/powerpoint/2010/main" val="211421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7A159-08FF-F5FD-4F23-797527E4B52B}"/>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D951A02-F14D-3AFF-4A56-B195592898AD}"/>
              </a:ext>
            </a:extLst>
          </p:cNvPr>
          <p:cNvGraphicFramePr>
            <a:graphicFrameLocks noGrp="1"/>
          </p:cNvGraphicFramePr>
          <p:nvPr/>
        </p:nvGraphicFramePr>
        <p:xfrm>
          <a:off x="0" y="2995612"/>
          <a:ext cx="12192000" cy="866775"/>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636502652"/>
                    </a:ext>
                  </a:extLst>
                </a:gridCol>
                <a:gridCol w="6096000">
                  <a:extLst>
                    <a:ext uri="{9D8B030D-6E8A-4147-A177-3AD203B41FA5}">
                      <a16:colId xmlns:a16="http://schemas.microsoft.com/office/drawing/2014/main" val="4194566321"/>
                    </a:ext>
                  </a:extLst>
                </a:gridCol>
              </a:tblGrid>
              <a:tr h="495300">
                <a:tc>
                  <a:txBody>
                    <a:bodyPr/>
                    <a:lstStyle/>
                    <a:p>
                      <a:pPr marL="0" marR="0" algn="ctr">
                        <a:buNone/>
                      </a:pPr>
                      <a:r>
                        <a:rPr lang="en-US" sz="1100" b="1" i="0">
                          <a:solidFill>
                            <a:srgbClr val="000000"/>
                          </a:solidFill>
                          <a:effectLst/>
                          <a:latin typeface="Segoe UI" panose="020B0502040204020203" pitchFamily="34" charset="0"/>
                        </a:rPr>
                        <a:t>Employee Name</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buNone/>
                      </a:pPr>
                      <a:r>
                        <a:rPr lang="en-US" sz="1100" b="1" i="0">
                          <a:solidFill>
                            <a:srgbClr val="000000"/>
                          </a:solidFill>
                          <a:effectLst/>
                          <a:latin typeface="Segoe UI" panose="020B0502040204020203" pitchFamily="34" charset="0"/>
                        </a:rPr>
                        <a:t>Message / Wishes</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3038806864"/>
                  </a:ext>
                </a:extLst>
              </a:tr>
              <a:tr h="371475">
                <a:tc>
                  <a:txBody>
                    <a:bodyPr/>
                    <a:lstStyle/>
                    <a:p>
                      <a:pPr marL="0" marR="0" algn="l">
                        <a:buNone/>
                      </a:pPr>
                      <a:r>
                        <a:rPr lang="en-US" sz="1100" b="0" i="0">
                          <a:solidFill>
                            <a:srgbClr val="000000"/>
                          </a:solidFill>
                          <a:effectLst/>
                          <a:latin typeface="Aptos Narrow" panose="020B0004020202020204" pitchFamily="34" charset="0"/>
                        </a:rPr>
                        <a:t> Nareshkumar</a:t>
                      </a:r>
                      <a:endParaRPr lang="en-US" sz="11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buNone/>
                      </a:pPr>
                      <a:r>
                        <a:rPr lang="en-US" sz="1100" b="0" i="0">
                          <a:solidFill>
                            <a:srgbClr val="000000"/>
                          </a:solidFill>
                          <a:effectLst/>
                          <a:latin typeface="Aptos Narrow" panose="020B0004020202020204" pitchFamily="34" charset="0"/>
                        </a:rPr>
                        <a:t> Happy 15-year milestone, Subhashini! Thank you for your consistent support, dedication, and contribution to the team. It’s a pleasure working with you, and we look forward to many more achievements together</a:t>
                      </a:r>
                      <a:endParaRPr lang="en-US" sz="11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35341395"/>
                  </a:ext>
                </a:extLst>
              </a:tr>
            </a:tbl>
          </a:graphicData>
        </a:graphic>
      </p:graphicFrame>
    </p:spTree>
    <p:extLst>
      <p:ext uri="{BB962C8B-B14F-4D97-AF65-F5344CB8AC3E}">
        <p14:creationId xmlns:p14="http://schemas.microsoft.com/office/powerpoint/2010/main" val="6196415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AAC52-81F9-58FC-041C-7C2949CC9DF2}"/>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BA8CED57-3344-E3FF-722C-0FAB2C3F882B}"/>
              </a:ext>
            </a:extLst>
          </p:cNvPr>
          <p:cNvGraphicFramePr>
            <a:graphicFrameLocks noGrp="1"/>
          </p:cNvGraphicFramePr>
          <p:nvPr>
            <p:extLst>
              <p:ext uri="{D42A27DB-BD31-4B8C-83A1-F6EECF244321}">
                <p14:modId xmlns:p14="http://schemas.microsoft.com/office/powerpoint/2010/main" val="961290133"/>
              </p:ext>
            </p:extLst>
          </p:nvPr>
        </p:nvGraphicFramePr>
        <p:xfrm>
          <a:off x="2097314" y="2590800"/>
          <a:ext cx="9106285" cy="1350818"/>
        </p:xfrm>
        <a:graphic>
          <a:graphicData uri="http://schemas.openxmlformats.org/drawingml/2006/table">
            <a:tbl>
              <a:tblPr bandRow="1">
                <a:tableStyleId>{5C22544A-7EE6-4342-B048-85BDC9FD1C3A}</a:tableStyleId>
              </a:tblPr>
              <a:tblGrid>
                <a:gridCol w="619613">
                  <a:extLst>
                    <a:ext uri="{9D8B030D-6E8A-4147-A177-3AD203B41FA5}">
                      <a16:colId xmlns:a16="http://schemas.microsoft.com/office/drawing/2014/main" val="2710624141"/>
                    </a:ext>
                  </a:extLst>
                </a:gridCol>
                <a:gridCol w="8486672">
                  <a:extLst>
                    <a:ext uri="{9D8B030D-6E8A-4147-A177-3AD203B41FA5}">
                      <a16:colId xmlns:a16="http://schemas.microsoft.com/office/drawing/2014/main" val="72856928"/>
                    </a:ext>
                  </a:extLst>
                </a:gridCol>
              </a:tblGrid>
              <a:tr h="675409">
                <a:tc>
                  <a:txBody>
                    <a:bodyPr/>
                    <a:lstStyle/>
                    <a:p>
                      <a:pPr marL="0" marR="0" algn="ctr">
                        <a:buNone/>
                      </a:pPr>
                      <a:r>
                        <a:rPr lang="en-US" sz="1100" b="1" i="0">
                          <a:solidFill>
                            <a:srgbClr val="000000"/>
                          </a:solidFill>
                          <a:effectLst/>
                          <a:latin typeface="Segoe UI" panose="020B0502040204020203" pitchFamily="34" charset="0"/>
                        </a:rPr>
                        <a:t>Employee Name</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buNone/>
                      </a:pPr>
                      <a:r>
                        <a:rPr lang="en-US" sz="1100" b="1" i="0">
                          <a:solidFill>
                            <a:srgbClr val="000000"/>
                          </a:solidFill>
                          <a:effectLst/>
                          <a:latin typeface="Segoe UI" panose="020B0502040204020203" pitchFamily="34" charset="0"/>
                        </a:rPr>
                        <a:t>Message / Wishes</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4050576538"/>
                  </a:ext>
                </a:extLst>
              </a:tr>
              <a:tr h="675409">
                <a:tc>
                  <a:txBody>
                    <a:bodyPr/>
                    <a:lstStyle/>
                    <a:p>
                      <a:pPr marL="0" marR="0" algn="ctr">
                        <a:buNone/>
                      </a:pPr>
                      <a:r>
                        <a:rPr lang="en-US" sz="1100" b="0" i="0">
                          <a:solidFill>
                            <a:srgbClr val="000000"/>
                          </a:solidFill>
                          <a:effectLst/>
                          <a:latin typeface="Aptos Narrow" panose="020B0004020202020204" pitchFamily="34" charset="0"/>
                        </a:rPr>
                        <a:t>Prasanthi Vemu</a:t>
                      </a:r>
                      <a:endParaRPr lang="en-US" sz="11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100" b="0" i="0">
                          <a:solidFill>
                            <a:srgbClr val="000000"/>
                          </a:solidFill>
                          <a:effectLst/>
                          <a:latin typeface="Aptos Narrow" panose="020B0004020202020204" pitchFamily="34" charset="0"/>
                        </a:rPr>
                        <a:t>15 years of excellence - amazing! </a:t>
                      </a:r>
                      <a:r>
                        <a:rPr lang="en-US" sz="1100" b="0" i="0">
                          <a:solidFill>
                            <a:srgbClr val="000000"/>
                          </a:solidFill>
                          <a:effectLst/>
                          <a:latin typeface="Segoe UI Emoji" panose="020B0502040204020203" pitchFamily="34" charset="0"/>
                        </a:rPr>
                        <a:t>🎉</a:t>
                      </a:r>
                      <a:r>
                        <a:rPr lang="en-US" sz="1100" b="0" i="0">
                          <a:solidFill>
                            <a:srgbClr val="000000"/>
                          </a:solidFill>
                          <a:effectLst/>
                          <a:latin typeface="Aptos Narrow" panose="020B0004020202020204" pitchFamily="34" charset="0"/>
                        </a:rPr>
                        <a:t> </a:t>
                      </a:r>
                      <a:r>
                        <a:rPr lang="en-US" sz="1100" b="0" i="0">
                          <a:solidFill>
                            <a:srgbClr val="025AA2"/>
                          </a:solidFill>
                          <a:effectLst/>
                          <a:latin typeface="Aptos Narrow" panose="020B0004020202020204" pitchFamily="34" charset="0"/>
                        </a:rPr>
                        <a:t>Congratulations</a:t>
                      </a:r>
                      <a:r>
                        <a:rPr lang="en-US" sz="1100" b="0" i="0">
                          <a:solidFill>
                            <a:srgbClr val="000000"/>
                          </a:solidFill>
                          <a:effectLst/>
                          <a:latin typeface="Aptos Narrow" panose="020B0004020202020204" pitchFamily="34" charset="0"/>
                        </a:rPr>
                        <a:t>, Subhashini! Grateful for working alongside you. Your journey is truly inspiring. Please keep going and shining!</a:t>
                      </a:r>
                      <a:endParaRPr lang="en-US" sz="11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89333497"/>
                  </a:ext>
                </a:extLst>
              </a:tr>
            </a:tbl>
          </a:graphicData>
        </a:graphic>
      </p:graphicFrame>
    </p:spTree>
    <p:extLst>
      <p:ext uri="{BB962C8B-B14F-4D97-AF65-F5344CB8AC3E}">
        <p14:creationId xmlns:p14="http://schemas.microsoft.com/office/powerpoint/2010/main" val="2760258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5F0CB-2FC6-83BA-D2AF-3A3F0AC01C42}"/>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7039F12-D0C0-39D4-C974-C045AABE83E4}"/>
              </a:ext>
            </a:extLst>
          </p:cNvPr>
          <p:cNvGraphicFramePr>
            <a:graphicFrameLocks noGrp="1"/>
          </p:cNvGraphicFramePr>
          <p:nvPr/>
        </p:nvGraphicFramePr>
        <p:xfrm>
          <a:off x="0" y="2990850"/>
          <a:ext cx="12192000" cy="876300"/>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3652955292"/>
                    </a:ext>
                  </a:extLst>
                </a:gridCol>
                <a:gridCol w="6096000">
                  <a:extLst>
                    <a:ext uri="{9D8B030D-6E8A-4147-A177-3AD203B41FA5}">
                      <a16:colId xmlns:a16="http://schemas.microsoft.com/office/drawing/2014/main" val="2728712834"/>
                    </a:ext>
                  </a:extLst>
                </a:gridCol>
              </a:tblGrid>
              <a:tr h="495300">
                <a:tc>
                  <a:txBody>
                    <a:bodyPr/>
                    <a:lstStyle/>
                    <a:p>
                      <a:pPr marL="0" marR="0" algn="ctr">
                        <a:buNone/>
                      </a:pPr>
                      <a:r>
                        <a:rPr lang="en-US" sz="1100" b="1" i="0">
                          <a:solidFill>
                            <a:srgbClr val="000000"/>
                          </a:solidFill>
                          <a:effectLst/>
                          <a:latin typeface="Segoe UI" panose="020B0502040204020203" pitchFamily="34" charset="0"/>
                        </a:rPr>
                        <a:t>Employee Name</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buNone/>
                      </a:pPr>
                      <a:r>
                        <a:rPr lang="en-US" sz="1100" b="1" i="0">
                          <a:solidFill>
                            <a:srgbClr val="000000"/>
                          </a:solidFill>
                          <a:effectLst/>
                          <a:latin typeface="Segoe UI" panose="020B0502040204020203" pitchFamily="34" charset="0"/>
                        </a:rPr>
                        <a:t>Message / Wishes</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2748839596"/>
                  </a:ext>
                </a:extLst>
              </a:tr>
              <a:tr h="381000">
                <a:tc>
                  <a:txBody>
                    <a:bodyPr/>
                    <a:lstStyle/>
                    <a:p>
                      <a:pPr marL="0" marR="0" algn="l">
                        <a:buNone/>
                      </a:pPr>
                      <a:r>
                        <a:rPr lang="en-US" sz="1100" b="0" i="0">
                          <a:solidFill>
                            <a:srgbClr val="000000"/>
                          </a:solidFill>
                          <a:effectLst/>
                          <a:latin typeface="Aptos Narrow" panose="020B0004020202020204" pitchFamily="34" charset="0"/>
                        </a:rPr>
                        <a:t>Yamini Madeti </a:t>
                      </a:r>
                      <a:endParaRPr lang="en-US" sz="1125" b="0" i="0">
                        <a:solidFill>
                          <a:srgbClr val="000000"/>
                        </a:solidFill>
                        <a:effectLst/>
                        <a:latin typeface="Segoe UI" panose="020B0502040204020203"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buNone/>
                      </a:pPr>
                      <a:r>
                        <a:rPr lang="en-US" sz="1100" b="0" i="0">
                          <a:solidFill>
                            <a:srgbClr val="000000"/>
                          </a:solidFill>
                          <a:effectLst/>
                          <a:latin typeface="Aptos Narrow" panose="020B0004020202020204" pitchFamily="34" charset="0"/>
                        </a:rPr>
                        <a:t> </a:t>
                      </a:r>
                      <a:r>
                        <a:rPr lang="en-US" sz="1125" b="0" i="0">
                          <a:solidFill>
                            <a:srgbClr val="000000"/>
                          </a:solidFill>
                          <a:effectLst/>
                          <a:latin typeface="-webkit-standard"/>
                        </a:rPr>
                        <a:t>Wishing you a wonderful 15th anniversary milestone! Thank you for always being there for PMO’s community. Cheers to many more successful years ahead.</a:t>
                      </a:r>
                      <a:endParaRPr lang="en-US" sz="1125" b="0" i="0">
                        <a:solidFill>
                          <a:srgbClr val="000000"/>
                        </a:solidFill>
                        <a:effectLst/>
                        <a:latin typeface="Segoe UI" panose="020B0502040204020203"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74949110"/>
                  </a:ext>
                </a:extLst>
              </a:tr>
            </a:tbl>
          </a:graphicData>
        </a:graphic>
      </p:graphicFrame>
    </p:spTree>
    <p:extLst>
      <p:ext uri="{BB962C8B-B14F-4D97-AF65-F5344CB8AC3E}">
        <p14:creationId xmlns:p14="http://schemas.microsoft.com/office/powerpoint/2010/main" val="413476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BD7E3-522F-45A1-04B6-28DA901E8C4E}"/>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978F52C-DF0A-010E-F41F-A735772BECD8}"/>
              </a:ext>
            </a:extLst>
          </p:cNvPr>
          <p:cNvGraphicFramePr>
            <a:graphicFrameLocks noGrp="1"/>
          </p:cNvGraphicFramePr>
          <p:nvPr/>
        </p:nvGraphicFramePr>
        <p:xfrm>
          <a:off x="0" y="2990850"/>
          <a:ext cx="12192000" cy="876300"/>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3652955292"/>
                    </a:ext>
                  </a:extLst>
                </a:gridCol>
                <a:gridCol w="6096000">
                  <a:extLst>
                    <a:ext uri="{9D8B030D-6E8A-4147-A177-3AD203B41FA5}">
                      <a16:colId xmlns:a16="http://schemas.microsoft.com/office/drawing/2014/main" val="2728712834"/>
                    </a:ext>
                  </a:extLst>
                </a:gridCol>
              </a:tblGrid>
              <a:tr h="495300">
                <a:tc>
                  <a:txBody>
                    <a:bodyPr/>
                    <a:lstStyle/>
                    <a:p>
                      <a:pPr marL="0" marR="0" algn="ctr">
                        <a:buNone/>
                      </a:pPr>
                      <a:r>
                        <a:rPr lang="en-US" sz="1100" b="1" i="0">
                          <a:solidFill>
                            <a:srgbClr val="000000"/>
                          </a:solidFill>
                          <a:effectLst/>
                          <a:latin typeface="Segoe UI" panose="020B0502040204020203" pitchFamily="34" charset="0"/>
                        </a:rPr>
                        <a:t>Employee Name</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buNone/>
                      </a:pPr>
                      <a:r>
                        <a:rPr lang="en-US" sz="1100" b="1" i="0">
                          <a:solidFill>
                            <a:srgbClr val="000000"/>
                          </a:solidFill>
                          <a:effectLst/>
                          <a:latin typeface="Segoe UI" panose="020B0502040204020203" pitchFamily="34" charset="0"/>
                        </a:rPr>
                        <a:t>Message / Wishes</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2748839596"/>
                  </a:ext>
                </a:extLst>
              </a:tr>
              <a:tr h="381000">
                <a:tc>
                  <a:txBody>
                    <a:bodyPr/>
                    <a:lstStyle/>
                    <a:p>
                      <a:pPr marL="0" marR="0" algn="l">
                        <a:buNone/>
                      </a:pPr>
                      <a:r>
                        <a:rPr lang="en-US" sz="1100" b="0" i="0">
                          <a:solidFill>
                            <a:srgbClr val="000000"/>
                          </a:solidFill>
                          <a:effectLst/>
                          <a:latin typeface="Aptos Narrow" panose="020B0004020202020204" pitchFamily="34" charset="0"/>
                        </a:rPr>
                        <a:t>Yamini Madeti </a:t>
                      </a:r>
                      <a:endParaRPr lang="en-US" sz="1125" b="0" i="0">
                        <a:solidFill>
                          <a:srgbClr val="000000"/>
                        </a:solidFill>
                        <a:effectLst/>
                        <a:latin typeface="Segoe UI" panose="020B0502040204020203"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buNone/>
                      </a:pPr>
                      <a:r>
                        <a:rPr lang="en-US" sz="1100" b="0" i="0">
                          <a:solidFill>
                            <a:srgbClr val="000000"/>
                          </a:solidFill>
                          <a:effectLst/>
                          <a:latin typeface="Aptos Narrow" panose="020B0004020202020204" pitchFamily="34" charset="0"/>
                        </a:rPr>
                        <a:t> </a:t>
                      </a:r>
                      <a:r>
                        <a:rPr lang="en-US" sz="1125" b="0" i="0">
                          <a:solidFill>
                            <a:srgbClr val="000000"/>
                          </a:solidFill>
                          <a:effectLst/>
                          <a:latin typeface="-webkit-standard"/>
                        </a:rPr>
                        <a:t>Wishing you a wonderful 15th anniversary milestone! Thank you for always being there for PMO’s community. Cheers to many more successful years ahead.</a:t>
                      </a:r>
                      <a:endParaRPr lang="en-US" sz="1125" b="0" i="0">
                        <a:solidFill>
                          <a:srgbClr val="000000"/>
                        </a:solidFill>
                        <a:effectLst/>
                        <a:latin typeface="Segoe UI" panose="020B0502040204020203"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74949110"/>
                  </a:ext>
                </a:extLst>
              </a:tr>
            </a:tbl>
          </a:graphicData>
        </a:graphic>
      </p:graphicFrame>
      <p:graphicFrame>
        <p:nvGraphicFramePr>
          <p:cNvPr id="3" name="Table 2">
            <a:extLst>
              <a:ext uri="{FF2B5EF4-FFF2-40B4-BE49-F238E27FC236}">
                <a16:creationId xmlns:a16="http://schemas.microsoft.com/office/drawing/2014/main" id="{C1B8EDB5-9BD7-D380-D3F4-9DB9FB809112}"/>
              </a:ext>
            </a:extLst>
          </p:cNvPr>
          <p:cNvGraphicFramePr>
            <a:graphicFrameLocks noGrp="1"/>
          </p:cNvGraphicFramePr>
          <p:nvPr/>
        </p:nvGraphicFramePr>
        <p:xfrm>
          <a:off x="0" y="2602230"/>
          <a:ext cx="12192000" cy="1653540"/>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4187762055"/>
                    </a:ext>
                  </a:extLst>
                </a:gridCol>
                <a:gridCol w="6096000">
                  <a:extLst>
                    <a:ext uri="{9D8B030D-6E8A-4147-A177-3AD203B41FA5}">
                      <a16:colId xmlns:a16="http://schemas.microsoft.com/office/drawing/2014/main" val="604430815"/>
                    </a:ext>
                  </a:extLst>
                </a:gridCol>
              </a:tblGrid>
              <a:tr h="495300">
                <a:tc>
                  <a:txBody>
                    <a:bodyPr/>
                    <a:lstStyle/>
                    <a:p>
                      <a:pPr marL="0" marR="0" algn="ctr">
                        <a:spcAft>
                          <a:spcPts val="1200"/>
                        </a:spcAft>
                        <a:buNone/>
                      </a:pPr>
                      <a:r>
                        <a:rPr lang="en-US" sz="1125" b="1" i="0">
                          <a:solidFill>
                            <a:srgbClr val="000000"/>
                          </a:solidFill>
                          <a:effectLst/>
                          <a:latin typeface="Segoe UI" panose="020B0502040204020203" pitchFamily="34" charset="0"/>
                        </a:rPr>
                        <a:t>Employee Name</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spcAft>
                          <a:spcPts val="1200"/>
                        </a:spcAft>
                        <a:buNone/>
                      </a:pPr>
                      <a:r>
                        <a:rPr lang="en-US" sz="1125" b="1" i="0">
                          <a:solidFill>
                            <a:srgbClr val="000000"/>
                          </a:solidFill>
                          <a:effectLst/>
                          <a:latin typeface="Segoe UI" panose="020B0502040204020203" pitchFamily="34" charset="0"/>
                        </a:rPr>
                        <a:t>Message / Wishes</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4212634253"/>
                  </a:ext>
                </a:extLst>
              </a:tr>
              <a:tr h="371475">
                <a:tc>
                  <a:txBody>
                    <a:bodyPr/>
                    <a:lstStyle/>
                    <a:p>
                      <a:pPr marL="0" marR="0" algn="l">
                        <a:spcAft>
                          <a:spcPts val="1200"/>
                        </a:spcAft>
                        <a:buNone/>
                      </a:pPr>
                      <a:r>
                        <a:rPr lang="en-US" sz="1200" b="0" i="0">
                          <a:solidFill>
                            <a:srgbClr val="000000"/>
                          </a:solidFill>
                          <a:effectLst/>
                          <a:latin typeface="Aptos Narrow" panose="020B0004020202020204" pitchFamily="34" charset="0"/>
                        </a:rPr>
                        <a:t> Shahida</a:t>
                      </a:r>
                      <a:endParaRPr lang="en-US" sz="12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spcAft>
                          <a:spcPts val="1200"/>
                        </a:spcAft>
                        <a:buNone/>
                      </a:pPr>
                      <a:r>
                        <a:rPr lang="en-US" sz="1100" b="0" i="0">
                          <a:solidFill>
                            <a:srgbClr val="000000"/>
                          </a:solidFill>
                          <a:effectLst/>
                          <a:latin typeface="inherit"/>
                        </a:rPr>
                        <a:t>Heartiest </a:t>
                      </a:r>
                      <a:r>
                        <a:rPr lang="en-US" sz="1100" b="0" i="0">
                          <a:solidFill>
                            <a:srgbClr val="025AA2"/>
                          </a:solidFill>
                          <a:effectLst/>
                          <a:latin typeface="inherit"/>
                        </a:rPr>
                        <a:t>congratulations</a:t>
                      </a:r>
                      <a:r>
                        <a:rPr lang="en-US" sz="1100" b="0" i="0">
                          <a:solidFill>
                            <a:srgbClr val="000000"/>
                          </a:solidFill>
                          <a:effectLst/>
                          <a:latin typeface="inherit"/>
                        </a:rPr>
                        <a:t> on achieving an incredible milestone of 15 years with Wipro!</a:t>
                      </a:r>
                      <a:endParaRPr lang="en-US" sz="1200" b="0" i="0">
                        <a:solidFill>
                          <a:srgbClr val="000000"/>
                        </a:solidFill>
                        <a:effectLst/>
                        <a:latin typeface="Aptos" panose="020B0004020202020204" pitchFamily="34" charset="0"/>
                      </a:endParaRPr>
                    </a:p>
                    <a:p>
                      <a:pPr marL="0" marR="0" algn="l" fontAlgn="base">
                        <a:buNone/>
                      </a:pPr>
                      <a:r>
                        <a:rPr lang="en-US" sz="1100" b="0" i="0">
                          <a:solidFill>
                            <a:srgbClr val="000000"/>
                          </a:solidFill>
                          <a:effectLst/>
                          <a:latin typeface="inherit"/>
                        </a:rPr>
                        <a:t>Your dedication, commitment, and consistent contributions in your role have truly made a difference. This journey reflects not just your professional excellence but also your resilience and passion for delivering quality work.</a:t>
                      </a:r>
                      <a:endParaRPr lang="en-US" sz="1200" b="0" i="0">
                        <a:solidFill>
                          <a:srgbClr val="000000"/>
                        </a:solidFill>
                        <a:effectLst/>
                        <a:latin typeface="Aptos" panose="020B0004020202020204" pitchFamily="34" charset="0"/>
                      </a:endParaRPr>
                    </a:p>
                    <a:p>
                      <a:pPr marL="0" marR="0" algn="l" fontAlgn="base">
                        <a:buNone/>
                      </a:pPr>
                      <a:r>
                        <a:rPr lang="en-US" sz="1100" b="0" i="0">
                          <a:solidFill>
                            <a:srgbClr val="000000"/>
                          </a:solidFill>
                          <a:effectLst/>
                          <a:latin typeface="inherit"/>
                        </a:rPr>
                        <a:t> </a:t>
                      </a:r>
                      <a:endParaRPr lang="en-US" sz="1200" b="0" i="0">
                        <a:solidFill>
                          <a:srgbClr val="000000"/>
                        </a:solidFill>
                        <a:effectLst/>
                        <a:latin typeface="Aptos" panose="020B0004020202020204" pitchFamily="34" charset="0"/>
                      </a:endParaRPr>
                    </a:p>
                    <a:p>
                      <a:pPr marL="0" marR="0" algn="l" fontAlgn="base">
                        <a:buNone/>
                      </a:pPr>
                      <a:r>
                        <a:rPr lang="en-US" sz="1100" b="0" i="0">
                          <a:solidFill>
                            <a:srgbClr val="000000"/>
                          </a:solidFill>
                          <a:effectLst/>
                          <a:latin typeface="inherit"/>
                        </a:rPr>
                        <a:t>Wishing you continued success, growth, and many more milestones ahead with Wipro.</a:t>
                      </a:r>
                      <a:endParaRPr lang="en-US" sz="12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59899525"/>
                  </a:ext>
                </a:extLst>
              </a:tr>
            </a:tbl>
          </a:graphicData>
        </a:graphic>
      </p:graphicFrame>
    </p:spTree>
    <p:extLst>
      <p:ext uri="{BB962C8B-B14F-4D97-AF65-F5344CB8AC3E}">
        <p14:creationId xmlns:p14="http://schemas.microsoft.com/office/powerpoint/2010/main" val="3172745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3EF96-31AF-FC4A-8725-4E4794D0CE9A}"/>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1DAC839-2BDA-9D08-824B-AC34547B1790}"/>
              </a:ext>
            </a:extLst>
          </p:cNvPr>
          <p:cNvGraphicFramePr>
            <a:graphicFrameLocks noGrp="1"/>
          </p:cNvGraphicFramePr>
          <p:nvPr/>
        </p:nvGraphicFramePr>
        <p:xfrm>
          <a:off x="0" y="2990850"/>
          <a:ext cx="12192000" cy="876300"/>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3652955292"/>
                    </a:ext>
                  </a:extLst>
                </a:gridCol>
                <a:gridCol w="6096000">
                  <a:extLst>
                    <a:ext uri="{9D8B030D-6E8A-4147-A177-3AD203B41FA5}">
                      <a16:colId xmlns:a16="http://schemas.microsoft.com/office/drawing/2014/main" val="2728712834"/>
                    </a:ext>
                  </a:extLst>
                </a:gridCol>
              </a:tblGrid>
              <a:tr h="495300">
                <a:tc>
                  <a:txBody>
                    <a:bodyPr/>
                    <a:lstStyle/>
                    <a:p>
                      <a:pPr marL="0" marR="0" algn="ctr">
                        <a:buNone/>
                      </a:pPr>
                      <a:r>
                        <a:rPr lang="en-US" sz="1100" b="1" i="0">
                          <a:solidFill>
                            <a:srgbClr val="000000"/>
                          </a:solidFill>
                          <a:effectLst/>
                          <a:latin typeface="Segoe UI" panose="020B0502040204020203" pitchFamily="34" charset="0"/>
                        </a:rPr>
                        <a:t>Employee Name</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buNone/>
                      </a:pPr>
                      <a:r>
                        <a:rPr lang="en-US" sz="1100" b="1" i="0">
                          <a:solidFill>
                            <a:srgbClr val="000000"/>
                          </a:solidFill>
                          <a:effectLst/>
                          <a:latin typeface="Segoe UI" panose="020B0502040204020203" pitchFamily="34" charset="0"/>
                        </a:rPr>
                        <a:t>Message / Wishes</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2748839596"/>
                  </a:ext>
                </a:extLst>
              </a:tr>
              <a:tr h="381000">
                <a:tc>
                  <a:txBody>
                    <a:bodyPr/>
                    <a:lstStyle/>
                    <a:p>
                      <a:pPr marL="0" marR="0" algn="l">
                        <a:buNone/>
                      </a:pPr>
                      <a:r>
                        <a:rPr lang="en-US" sz="1100" b="0" i="0">
                          <a:solidFill>
                            <a:srgbClr val="000000"/>
                          </a:solidFill>
                          <a:effectLst/>
                          <a:latin typeface="Aptos Narrow" panose="020B0004020202020204" pitchFamily="34" charset="0"/>
                        </a:rPr>
                        <a:t>Yamini Madeti </a:t>
                      </a:r>
                      <a:endParaRPr lang="en-US" sz="1125" b="0" i="0">
                        <a:solidFill>
                          <a:srgbClr val="000000"/>
                        </a:solidFill>
                        <a:effectLst/>
                        <a:latin typeface="Segoe UI" panose="020B0502040204020203"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buNone/>
                      </a:pPr>
                      <a:r>
                        <a:rPr lang="en-US" sz="1100" b="0" i="0">
                          <a:solidFill>
                            <a:srgbClr val="000000"/>
                          </a:solidFill>
                          <a:effectLst/>
                          <a:latin typeface="Aptos Narrow" panose="020B0004020202020204" pitchFamily="34" charset="0"/>
                        </a:rPr>
                        <a:t> </a:t>
                      </a:r>
                      <a:r>
                        <a:rPr lang="en-US" sz="1125" b="0" i="0">
                          <a:solidFill>
                            <a:srgbClr val="000000"/>
                          </a:solidFill>
                          <a:effectLst/>
                          <a:latin typeface="-webkit-standard"/>
                        </a:rPr>
                        <a:t>Wishing you a wonderful 15th anniversary milestone! Thank you for always being there for PMO’s community. Cheers to many more successful years ahead.</a:t>
                      </a:r>
                      <a:endParaRPr lang="en-US" sz="1125" b="0" i="0">
                        <a:solidFill>
                          <a:srgbClr val="000000"/>
                        </a:solidFill>
                        <a:effectLst/>
                        <a:latin typeface="Segoe UI" panose="020B0502040204020203"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74949110"/>
                  </a:ext>
                </a:extLst>
              </a:tr>
            </a:tbl>
          </a:graphicData>
        </a:graphic>
      </p:graphicFrame>
      <p:graphicFrame>
        <p:nvGraphicFramePr>
          <p:cNvPr id="3" name="Table 2">
            <a:extLst>
              <a:ext uri="{FF2B5EF4-FFF2-40B4-BE49-F238E27FC236}">
                <a16:creationId xmlns:a16="http://schemas.microsoft.com/office/drawing/2014/main" id="{38813BD4-4EB3-D2CB-8B8B-9051821A29B0}"/>
              </a:ext>
            </a:extLst>
          </p:cNvPr>
          <p:cNvGraphicFramePr>
            <a:graphicFrameLocks noGrp="1"/>
          </p:cNvGraphicFramePr>
          <p:nvPr>
            <p:extLst>
              <p:ext uri="{D42A27DB-BD31-4B8C-83A1-F6EECF244321}">
                <p14:modId xmlns:p14="http://schemas.microsoft.com/office/powerpoint/2010/main" val="1411322378"/>
              </p:ext>
            </p:extLst>
          </p:nvPr>
        </p:nvGraphicFramePr>
        <p:xfrm>
          <a:off x="0" y="2602230"/>
          <a:ext cx="12192000" cy="1592580"/>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4187762055"/>
                    </a:ext>
                  </a:extLst>
                </a:gridCol>
                <a:gridCol w="6096000">
                  <a:extLst>
                    <a:ext uri="{9D8B030D-6E8A-4147-A177-3AD203B41FA5}">
                      <a16:colId xmlns:a16="http://schemas.microsoft.com/office/drawing/2014/main" val="604430815"/>
                    </a:ext>
                  </a:extLst>
                </a:gridCol>
              </a:tblGrid>
              <a:tr h="495300">
                <a:tc>
                  <a:txBody>
                    <a:bodyPr/>
                    <a:lstStyle/>
                    <a:p>
                      <a:pPr marL="0" marR="0" algn="ctr">
                        <a:spcAft>
                          <a:spcPts val="1200"/>
                        </a:spcAft>
                        <a:buNone/>
                      </a:pPr>
                      <a:r>
                        <a:rPr lang="en-US" sz="1125" b="1" i="0">
                          <a:solidFill>
                            <a:srgbClr val="000000"/>
                          </a:solidFill>
                          <a:effectLst/>
                          <a:latin typeface="Segoe UI" panose="020B0502040204020203" pitchFamily="34" charset="0"/>
                        </a:rPr>
                        <a:t>Employee Name</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spcAft>
                          <a:spcPts val="1200"/>
                        </a:spcAft>
                        <a:buNone/>
                      </a:pPr>
                      <a:r>
                        <a:rPr lang="en-US" sz="1125" b="1" i="0">
                          <a:solidFill>
                            <a:srgbClr val="000000"/>
                          </a:solidFill>
                          <a:effectLst/>
                          <a:latin typeface="Segoe UI" panose="020B0502040204020203" pitchFamily="34" charset="0"/>
                        </a:rPr>
                        <a:t>Message / Wishes</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4212634253"/>
                  </a:ext>
                </a:extLst>
              </a:tr>
              <a:tr h="371475">
                <a:tc>
                  <a:txBody>
                    <a:bodyPr/>
                    <a:lstStyle/>
                    <a:p>
                      <a:pPr marL="0" marR="0" lvl="0" algn="l">
                        <a:spcAft>
                          <a:spcPts val="1200"/>
                        </a:spcAft>
                        <a:buNone/>
                      </a:pPr>
                      <a:r>
                        <a:rPr lang="en-US" sz="1200" b="0" i="0" u="none" strike="noStrike" noProof="0" dirty="0" err="1">
                          <a:solidFill>
                            <a:srgbClr val="000000"/>
                          </a:solidFill>
                          <a:effectLst/>
                          <a:latin typeface="Calibri"/>
                          <a:ea typeface="Calibri"/>
                          <a:cs typeface="Calibri"/>
                        </a:rPr>
                        <a:t>Kopparapu</a:t>
                      </a:r>
                      <a:r>
                        <a:rPr lang="en-US" sz="1200" b="0" i="0" u="none" strike="noStrike" noProof="0" dirty="0">
                          <a:solidFill>
                            <a:srgbClr val="000000"/>
                          </a:solidFill>
                          <a:effectLst/>
                          <a:latin typeface="Calibri"/>
                          <a:ea typeface="Calibri"/>
                          <a:cs typeface="Calibri"/>
                        </a:rPr>
                        <a:t> Venkata Sharanya</a:t>
                      </a:r>
                      <a:endParaRPr lang="en-US" dirty="0"/>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en-US" sz="1200" b="0" i="0" u="none" strike="noStrike" noProof="0">
                          <a:solidFill>
                            <a:srgbClr val="025AA2"/>
                          </a:solidFill>
                          <a:effectLst/>
                          <a:highlight>
                            <a:srgbClr val="F4F9FD"/>
                          </a:highlight>
                          <a:latin typeface="Aptos"/>
                        </a:rPr>
                        <a:t>Congratulations</a:t>
                      </a:r>
                      <a:r>
                        <a:rPr lang="en-US" sz="1200" b="0" i="0" u="none" strike="noStrike" noProof="0">
                          <a:solidFill>
                            <a:srgbClr val="000000"/>
                          </a:solidFill>
                          <a:effectLst/>
                          <a:highlight>
                            <a:srgbClr val="FFFFFF"/>
                          </a:highlight>
                          <a:latin typeface="Aptos"/>
                        </a:rPr>
                        <a:t> on reaching an incredible milestone of 15 Years!! </a:t>
                      </a:r>
                      <a:r>
                        <a:rPr lang="en-US" sz="1200" b="0" i="0" u="none" strike="noStrike" noProof="0">
                          <a:solidFill>
                            <a:srgbClr val="000000"/>
                          </a:solidFill>
                          <a:effectLst/>
                          <a:highlight>
                            <a:srgbClr val="FFFFFF"/>
                          </a:highlight>
                          <a:latin typeface="Segoe UI Symbol"/>
                          <a:ea typeface="Segoe UI Symbol"/>
                        </a:rPr>
                        <a:t>⁠</a:t>
                      </a:r>
                      <a:br>
                        <a:rPr lang="en-US" sz="1200" b="0" i="0" u="none" strike="noStrike" noProof="0" dirty="0">
                          <a:solidFill>
                            <a:srgbClr val="000000"/>
                          </a:solidFill>
                          <a:effectLst/>
                          <a:highlight>
                            <a:srgbClr val="FFFFFF"/>
                          </a:highlight>
                          <a:latin typeface="Segoe UI Symbol"/>
                          <a:ea typeface="Segoe UI Symbol"/>
                        </a:rPr>
                      </a:br>
                      <a:r>
                        <a:rPr lang="en-US" sz="1200" b="0" i="0" u="none" strike="noStrike" noProof="0">
                          <a:solidFill>
                            <a:srgbClr val="000000"/>
                          </a:solidFill>
                          <a:effectLst/>
                          <a:highlight>
                            <a:srgbClr val="FFFFFF"/>
                          </a:highlight>
                          <a:latin typeface="Segoe UI Symbol"/>
                          <a:ea typeface="Segoe UI Symbol"/>
                        </a:rPr>
                        <a:t>It's been wonderful to witness your journey over the years .Your achievements , Professionalism and Commitment to excellence has been truly inspiring .</a:t>
                      </a:r>
                      <a:br>
                        <a:rPr lang="en-US" sz="1200" b="0" i="0" u="none" strike="noStrike" noProof="0" dirty="0">
                          <a:solidFill>
                            <a:srgbClr val="000000"/>
                          </a:solidFill>
                          <a:effectLst/>
                          <a:highlight>
                            <a:srgbClr val="FFFFFF"/>
                          </a:highlight>
                          <a:latin typeface="Segoe UI Symbol"/>
                          <a:ea typeface="Segoe UI Symbol"/>
                        </a:rPr>
                      </a:br>
                      <a:r>
                        <a:rPr lang="en-US" sz="1200" b="0" i="0" u="none" strike="noStrike" noProof="0">
                          <a:solidFill>
                            <a:srgbClr val="000000"/>
                          </a:solidFill>
                          <a:effectLst/>
                          <a:highlight>
                            <a:srgbClr val="FFFFFF"/>
                          </a:highlight>
                          <a:latin typeface="Segoe UI Symbol"/>
                          <a:ea typeface="Segoe UI Symbol"/>
                        </a:rPr>
                        <a:t>Wishing you continued success, growth and many more years of accomplishments ahead.</a:t>
                      </a:r>
                      <a:endParaRPr lang="en-US" sz="1200" u="none" strike="noStrike" noProof="0">
                        <a:highlight>
                          <a:srgbClr val="FFFFFF"/>
                        </a:highlight>
                        <a:latin typeface="Segoe UI Symbol"/>
                        <a:ea typeface="Segoe UI Symbol"/>
                      </a:endParaRPr>
                    </a:p>
                    <a:p>
                      <a:pPr lvl="0" algn="l">
                        <a:lnSpc>
                          <a:spcPct val="100000"/>
                        </a:lnSpc>
                        <a:spcBef>
                          <a:spcPts val="0"/>
                        </a:spcBef>
                        <a:spcAft>
                          <a:spcPts val="0"/>
                        </a:spcAft>
                        <a:buNone/>
                      </a:pPr>
                      <a:r>
                        <a:rPr lang="en-US" sz="1200" b="0" i="0" u="none" strike="noStrike" noProof="0">
                          <a:solidFill>
                            <a:srgbClr val="000000"/>
                          </a:solidFill>
                          <a:effectLst/>
                          <a:highlight>
                            <a:srgbClr val="FFFFFF"/>
                          </a:highlight>
                          <a:latin typeface="Aptos"/>
                        </a:rPr>
                        <a:t>Happy 15th Anniversary!!</a:t>
                      </a:r>
                      <a:endParaRPr lang="en-US"/>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59899525"/>
                  </a:ext>
                </a:extLst>
              </a:tr>
            </a:tbl>
          </a:graphicData>
        </a:graphic>
      </p:graphicFrame>
    </p:spTree>
    <p:extLst>
      <p:ext uri="{BB962C8B-B14F-4D97-AF65-F5344CB8AC3E}">
        <p14:creationId xmlns:p14="http://schemas.microsoft.com/office/powerpoint/2010/main" val="164374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8EC21-7730-4BD8-97B7-D79C87030673}"/>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4825E9BB-0FFF-27A7-AD74-1A3C22F9C914}"/>
              </a:ext>
            </a:extLst>
          </p:cNvPr>
          <p:cNvGraphicFramePr>
            <a:graphicFrameLocks noGrp="1"/>
          </p:cNvGraphicFramePr>
          <p:nvPr/>
        </p:nvGraphicFramePr>
        <p:xfrm>
          <a:off x="3848100" y="2555875"/>
          <a:ext cx="4495800" cy="1746250"/>
        </p:xfrm>
        <a:graphic>
          <a:graphicData uri="http://schemas.openxmlformats.org/drawingml/2006/table">
            <a:tbl>
              <a:tblPr bandRow="1">
                <a:tableStyleId>{5C22544A-7EE6-4342-B048-85BDC9FD1C3A}</a:tableStyleId>
              </a:tblPr>
              <a:tblGrid>
                <a:gridCol w="1498600">
                  <a:extLst>
                    <a:ext uri="{9D8B030D-6E8A-4147-A177-3AD203B41FA5}">
                      <a16:colId xmlns:a16="http://schemas.microsoft.com/office/drawing/2014/main" val="1849714152"/>
                    </a:ext>
                  </a:extLst>
                </a:gridCol>
                <a:gridCol w="2997200">
                  <a:extLst>
                    <a:ext uri="{9D8B030D-6E8A-4147-A177-3AD203B41FA5}">
                      <a16:colId xmlns:a16="http://schemas.microsoft.com/office/drawing/2014/main" val="1357897378"/>
                    </a:ext>
                  </a:extLst>
                </a:gridCol>
              </a:tblGrid>
              <a:tr h="635000">
                <a:tc>
                  <a:txBody>
                    <a:bodyPr/>
                    <a:lstStyle/>
                    <a:p>
                      <a:pPr marL="0" marR="0" algn="ctr">
                        <a:buNone/>
                      </a:pPr>
                      <a:r>
                        <a:rPr lang="en-US" sz="1100" b="1" i="0">
                          <a:solidFill>
                            <a:srgbClr val="000000"/>
                          </a:solidFill>
                          <a:effectLst/>
                          <a:latin typeface="Segoe UI" panose="020B0502040204020203" pitchFamily="34" charset="0"/>
                        </a:rPr>
                        <a:t>Employee Name</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buNone/>
                      </a:pPr>
                      <a:r>
                        <a:rPr lang="en-US" sz="1100" b="1" i="0">
                          <a:solidFill>
                            <a:srgbClr val="000000"/>
                          </a:solidFill>
                          <a:effectLst/>
                          <a:latin typeface="Segoe UI" panose="020B0502040204020203" pitchFamily="34" charset="0"/>
                        </a:rPr>
                        <a:t>Message / Wishes</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3098481418"/>
                  </a:ext>
                </a:extLst>
              </a:tr>
              <a:tr h="1111250">
                <a:tc>
                  <a:txBody>
                    <a:bodyPr/>
                    <a:lstStyle/>
                    <a:p>
                      <a:pPr marL="0" marR="0" algn="l">
                        <a:buNone/>
                      </a:pPr>
                      <a:r>
                        <a:rPr lang="en-US" sz="1100" b="0" i="0">
                          <a:solidFill>
                            <a:srgbClr val="000000"/>
                          </a:solidFill>
                          <a:effectLst/>
                          <a:latin typeface="Aptos Narrow" panose="020B0004020202020204" pitchFamily="34" charset="0"/>
                        </a:rPr>
                        <a:t>Valerian J Cuthinha</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buNone/>
                      </a:pPr>
                      <a:r>
                        <a:rPr lang="en-US" sz="1100" b="0" i="0">
                          <a:solidFill>
                            <a:srgbClr val="000000"/>
                          </a:solidFill>
                          <a:effectLst/>
                          <a:latin typeface="Aptos Narrow" panose="020B0004020202020204" pitchFamily="34" charset="0"/>
                        </a:rPr>
                        <a:t>Hi Subhashini,</a:t>
                      </a:r>
                      <a:br>
                        <a:rPr lang="en-US" sz="1100" b="0" i="0">
                          <a:solidFill>
                            <a:srgbClr val="000000"/>
                          </a:solidFill>
                          <a:effectLst/>
                          <a:latin typeface="Aptos Narrow" panose="020B0004020202020204" pitchFamily="34" charset="0"/>
                        </a:rPr>
                      </a:br>
                      <a:br>
                        <a:rPr lang="en-US" sz="1100" b="0" i="0">
                          <a:solidFill>
                            <a:srgbClr val="000000"/>
                          </a:solidFill>
                          <a:effectLst/>
                          <a:latin typeface="Aptos Narrow" panose="020B0004020202020204" pitchFamily="34" charset="0"/>
                        </a:rPr>
                      </a:br>
                      <a:r>
                        <a:rPr lang="en-US" sz="1100" b="0" i="0">
                          <a:solidFill>
                            <a:srgbClr val="025AA2"/>
                          </a:solidFill>
                          <a:effectLst/>
                          <a:latin typeface="Aptos Narrow" panose="020B0004020202020204" pitchFamily="34" charset="0"/>
                        </a:rPr>
                        <a:t>Congratulations</a:t>
                      </a:r>
                      <a:r>
                        <a:rPr lang="en-US" sz="1100" b="0" i="0">
                          <a:solidFill>
                            <a:srgbClr val="000000"/>
                          </a:solidFill>
                          <a:effectLst/>
                          <a:latin typeface="Aptos Narrow" panose="020B0004020202020204" pitchFamily="34" charset="0"/>
                        </a:rPr>
                        <a:t> on completing 15 years at Wipro. It has been an incredible experience working with you. I truly appreciate your dedication and your commitment in supporting the SMU Ops team.</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79789539"/>
                  </a:ext>
                </a:extLst>
              </a:tr>
            </a:tbl>
          </a:graphicData>
        </a:graphic>
      </p:graphicFrame>
    </p:spTree>
    <p:extLst>
      <p:ext uri="{BB962C8B-B14F-4D97-AF65-F5344CB8AC3E}">
        <p14:creationId xmlns:p14="http://schemas.microsoft.com/office/powerpoint/2010/main" val="4035858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16377-659B-E584-8EA0-9396684C0AFD}"/>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9468A87-F42A-9142-1E26-275F80A1417B}"/>
              </a:ext>
            </a:extLst>
          </p:cNvPr>
          <p:cNvGraphicFramePr>
            <a:graphicFrameLocks noGrp="1"/>
          </p:cNvGraphicFramePr>
          <p:nvPr/>
        </p:nvGraphicFramePr>
        <p:xfrm>
          <a:off x="0" y="2995612"/>
          <a:ext cx="12192000" cy="866775"/>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2396419869"/>
                    </a:ext>
                  </a:extLst>
                </a:gridCol>
                <a:gridCol w="6096000">
                  <a:extLst>
                    <a:ext uri="{9D8B030D-6E8A-4147-A177-3AD203B41FA5}">
                      <a16:colId xmlns:a16="http://schemas.microsoft.com/office/drawing/2014/main" val="3180098265"/>
                    </a:ext>
                  </a:extLst>
                </a:gridCol>
              </a:tblGrid>
              <a:tr h="495300">
                <a:tc>
                  <a:txBody>
                    <a:bodyPr/>
                    <a:lstStyle/>
                    <a:p>
                      <a:pPr marL="0" marR="0" algn="ctr">
                        <a:buNone/>
                      </a:pPr>
                      <a:r>
                        <a:rPr lang="en-US" sz="1100" b="1" i="0">
                          <a:solidFill>
                            <a:srgbClr val="000000"/>
                          </a:solidFill>
                          <a:effectLst/>
                          <a:latin typeface="Segoe UI" panose="020B0502040204020203" pitchFamily="34" charset="0"/>
                        </a:rPr>
                        <a:t>Employee Name</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buNone/>
                      </a:pPr>
                      <a:r>
                        <a:rPr lang="en-US" sz="1100" b="1" i="0">
                          <a:solidFill>
                            <a:srgbClr val="000000"/>
                          </a:solidFill>
                          <a:effectLst/>
                          <a:latin typeface="Segoe UI" panose="020B0502040204020203" pitchFamily="34" charset="0"/>
                        </a:rPr>
                        <a:t>Message / Wishes</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767870159"/>
                  </a:ext>
                </a:extLst>
              </a:tr>
              <a:tr h="371475">
                <a:tc>
                  <a:txBody>
                    <a:bodyPr/>
                    <a:lstStyle/>
                    <a:p>
                      <a:pPr marL="0" marR="0" algn="l">
                        <a:buNone/>
                      </a:pPr>
                      <a:r>
                        <a:rPr lang="en-US" sz="1100" b="0" i="0">
                          <a:solidFill>
                            <a:srgbClr val="000000"/>
                          </a:solidFill>
                          <a:effectLst/>
                          <a:latin typeface="Aptos Narrow" panose="020B0004020202020204" pitchFamily="34" charset="0"/>
                        </a:rPr>
                        <a:t>Sultan Shroff</a:t>
                      </a:r>
                      <a:endParaRPr lang="en-US" sz="11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buNone/>
                      </a:pPr>
                      <a:r>
                        <a:rPr lang="en-US" sz="1100" b="0" i="0">
                          <a:solidFill>
                            <a:srgbClr val="025AA2"/>
                          </a:solidFill>
                          <a:effectLst/>
                          <a:latin typeface="Aptos Narrow" panose="020B0004020202020204" pitchFamily="34" charset="0"/>
                        </a:rPr>
                        <a:t>Congratulations</a:t>
                      </a:r>
                      <a:r>
                        <a:rPr lang="en-US" sz="1100" b="0" i="0">
                          <a:solidFill>
                            <a:srgbClr val="000000"/>
                          </a:solidFill>
                          <a:effectLst/>
                          <a:latin typeface="Aptos Narrow" panose="020B0004020202020204" pitchFamily="34" charset="0"/>
                        </a:rPr>
                        <a:t>! Subhashini on achieving the milestone, wish you many more successful milestones and successful years ahead.</a:t>
                      </a:r>
                      <a:endParaRPr lang="en-US" sz="11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60276770"/>
                  </a:ext>
                </a:extLst>
              </a:tr>
            </a:tbl>
          </a:graphicData>
        </a:graphic>
      </p:graphicFrame>
    </p:spTree>
    <p:extLst>
      <p:ext uri="{BB962C8B-B14F-4D97-AF65-F5344CB8AC3E}">
        <p14:creationId xmlns:p14="http://schemas.microsoft.com/office/powerpoint/2010/main" val="3426315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FC56B-8D3D-6EAD-32BC-7266F4824376}"/>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CF939A4-C832-ABF3-5013-1CF2C55D2D8B}"/>
              </a:ext>
            </a:extLst>
          </p:cNvPr>
          <p:cNvGraphicFramePr>
            <a:graphicFrameLocks noGrp="1"/>
          </p:cNvGraphicFramePr>
          <p:nvPr/>
        </p:nvGraphicFramePr>
        <p:xfrm>
          <a:off x="0" y="2678430"/>
          <a:ext cx="12192000" cy="1501140"/>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2730859316"/>
                    </a:ext>
                  </a:extLst>
                </a:gridCol>
                <a:gridCol w="6096000">
                  <a:extLst>
                    <a:ext uri="{9D8B030D-6E8A-4147-A177-3AD203B41FA5}">
                      <a16:colId xmlns:a16="http://schemas.microsoft.com/office/drawing/2014/main" val="1405640999"/>
                    </a:ext>
                  </a:extLst>
                </a:gridCol>
              </a:tblGrid>
              <a:tr h="495300">
                <a:tc>
                  <a:txBody>
                    <a:bodyPr/>
                    <a:lstStyle/>
                    <a:p>
                      <a:pPr marL="0" marR="0" algn="ctr">
                        <a:buNone/>
                      </a:pPr>
                      <a:r>
                        <a:rPr lang="en-US" sz="1100" b="1" i="0">
                          <a:solidFill>
                            <a:srgbClr val="000000"/>
                          </a:solidFill>
                          <a:effectLst/>
                          <a:latin typeface="Segoe UI" panose="020B0502040204020203" pitchFamily="34" charset="0"/>
                        </a:rPr>
                        <a:t>Employee Name</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buNone/>
                      </a:pPr>
                      <a:r>
                        <a:rPr lang="en-US" sz="1100" b="1" i="0">
                          <a:solidFill>
                            <a:srgbClr val="000000"/>
                          </a:solidFill>
                          <a:effectLst/>
                          <a:latin typeface="Segoe UI" panose="020B0502040204020203" pitchFamily="34" charset="0"/>
                        </a:rPr>
                        <a:t>Message / Wishes</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837993600"/>
                  </a:ext>
                </a:extLst>
              </a:tr>
              <a:tr h="371475">
                <a:tc>
                  <a:txBody>
                    <a:bodyPr/>
                    <a:lstStyle/>
                    <a:p>
                      <a:pPr marL="0" marR="0" algn="l">
                        <a:buNone/>
                      </a:pPr>
                      <a:r>
                        <a:rPr lang="en-US" sz="1100" b="0" i="0">
                          <a:solidFill>
                            <a:srgbClr val="000000"/>
                          </a:solidFill>
                          <a:effectLst/>
                          <a:latin typeface="Aptos Narrow" panose="020B0004020202020204" pitchFamily="34" charset="0"/>
                        </a:rPr>
                        <a:t> Venkatesh B S</a:t>
                      </a:r>
                      <a:endParaRPr lang="en-US" sz="11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buNone/>
                      </a:pPr>
                      <a:r>
                        <a:rPr lang="en-US" sz="1100" b="0" i="0">
                          <a:solidFill>
                            <a:srgbClr val="000000"/>
                          </a:solidFill>
                          <a:effectLst/>
                          <a:latin typeface="Aptos Narrow" panose="020B0004020202020204" pitchFamily="34" charset="0"/>
                        </a:rPr>
                        <a:t>Many </a:t>
                      </a:r>
                      <a:r>
                        <a:rPr lang="en-US" sz="1100" b="0" i="0">
                          <a:solidFill>
                            <a:srgbClr val="025AA2"/>
                          </a:solidFill>
                          <a:effectLst/>
                          <a:latin typeface="Aptos Narrow" panose="020B0004020202020204" pitchFamily="34" charset="0"/>
                        </a:rPr>
                        <a:t>congratulations</a:t>
                      </a:r>
                      <a:r>
                        <a:rPr lang="en-US" sz="1100" b="0" i="0">
                          <a:solidFill>
                            <a:srgbClr val="000000"/>
                          </a:solidFill>
                          <a:effectLst/>
                          <a:latin typeface="Aptos Narrow" panose="020B0004020202020204" pitchFamily="34" charset="0"/>
                        </a:rPr>
                        <a:t> Subhashini on completing this significant milestone in Wipro.</a:t>
                      </a:r>
                      <a:endParaRPr lang="en-US" sz="1100" b="0" i="0">
                        <a:solidFill>
                          <a:srgbClr val="000000"/>
                        </a:solidFill>
                        <a:effectLst/>
                        <a:latin typeface="Aptos" panose="020B0004020202020204" pitchFamily="34" charset="0"/>
                      </a:endParaRPr>
                    </a:p>
                    <a:p>
                      <a:pPr marL="0" marR="0" algn="l">
                        <a:buNone/>
                      </a:pPr>
                      <a:r>
                        <a:rPr lang="en-US" sz="1100" b="0" i="0">
                          <a:solidFill>
                            <a:srgbClr val="000000"/>
                          </a:solidFill>
                          <a:effectLst/>
                          <a:latin typeface="Aptos Narrow" panose="020B0004020202020204" pitchFamily="34" charset="0"/>
                        </a:rPr>
                        <a:t>In my 3 plus years interactions with Subhashini, she comes across as a very diligent &amp; responsive personality.</a:t>
                      </a:r>
                      <a:endParaRPr lang="en-US" sz="1100" b="0" i="0">
                        <a:solidFill>
                          <a:srgbClr val="000000"/>
                        </a:solidFill>
                        <a:effectLst/>
                        <a:latin typeface="Aptos" panose="020B0004020202020204" pitchFamily="34" charset="0"/>
                      </a:endParaRPr>
                    </a:p>
                    <a:p>
                      <a:pPr marL="0" marR="0" algn="l">
                        <a:buNone/>
                      </a:pPr>
                      <a:r>
                        <a:rPr lang="en-US" sz="1100" b="0" i="0">
                          <a:solidFill>
                            <a:srgbClr val="000000"/>
                          </a:solidFill>
                          <a:effectLst/>
                          <a:latin typeface="Aptos Narrow" panose="020B0004020202020204" pitchFamily="34" charset="0"/>
                        </a:rPr>
                        <a:t>She will ask all relevant questions and does not hesitate to say No when it requires.</a:t>
                      </a:r>
                      <a:endParaRPr lang="en-US" sz="1100" b="0" i="0">
                        <a:solidFill>
                          <a:srgbClr val="000000"/>
                        </a:solidFill>
                        <a:effectLst/>
                        <a:latin typeface="Aptos" panose="020B0004020202020204" pitchFamily="34" charset="0"/>
                      </a:endParaRPr>
                    </a:p>
                    <a:p>
                      <a:pPr marL="0" marR="0" algn="l">
                        <a:buNone/>
                      </a:pPr>
                      <a:r>
                        <a:rPr lang="en-US" sz="1100" b="0" i="0">
                          <a:solidFill>
                            <a:srgbClr val="000000"/>
                          </a:solidFill>
                          <a:effectLst/>
                          <a:latin typeface="Aptos Narrow" panose="020B0004020202020204" pitchFamily="34" charset="0"/>
                        </a:rPr>
                        <a:t>On this memorable occasion I wish you good health and all the best for many more such successful milestones ahead in Wipro.</a:t>
                      </a:r>
                      <a:endParaRPr lang="en-US" sz="11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60910266"/>
                  </a:ext>
                </a:extLst>
              </a:tr>
            </a:tbl>
          </a:graphicData>
        </a:graphic>
      </p:graphicFrame>
    </p:spTree>
    <p:extLst>
      <p:ext uri="{BB962C8B-B14F-4D97-AF65-F5344CB8AC3E}">
        <p14:creationId xmlns:p14="http://schemas.microsoft.com/office/powerpoint/2010/main" val="3601722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71635BC5-8E62-2610-05BD-255058F94938}"/>
              </a:ext>
            </a:extLst>
          </p:cNvPr>
          <p:cNvGraphicFramePr>
            <a:graphicFrameLocks noGrp="1"/>
          </p:cNvGraphicFramePr>
          <p:nvPr>
            <p:extLst>
              <p:ext uri="{D42A27DB-BD31-4B8C-83A1-F6EECF244321}">
                <p14:modId xmlns:p14="http://schemas.microsoft.com/office/powerpoint/2010/main" val="2930367624"/>
              </p:ext>
            </p:extLst>
          </p:nvPr>
        </p:nvGraphicFramePr>
        <p:xfrm>
          <a:off x="0" y="1988457"/>
          <a:ext cx="12192000" cy="2925532"/>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1712246564"/>
                    </a:ext>
                  </a:extLst>
                </a:gridCol>
                <a:gridCol w="6096000">
                  <a:extLst>
                    <a:ext uri="{9D8B030D-6E8A-4147-A177-3AD203B41FA5}">
                      <a16:colId xmlns:a16="http://schemas.microsoft.com/office/drawing/2014/main" val="1536929400"/>
                    </a:ext>
                  </a:extLst>
                </a:gridCol>
              </a:tblGrid>
              <a:tr h="2079871">
                <a:tc>
                  <a:txBody>
                    <a:bodyPr/>
                    <a:lstStyle/>
                    <a:p>
                      <a:pPr marL="0" marR="0" algn="ctr">
                        <a:spcAft>
                          <a:spcPts val="1200"/>
                        </a:spcAft>
                        <a:buNone/>
                      </a:pPr>
                      <a:r>
                        <a:rPr lang="en-US" sz="1100" b="1" i="0">
                          <a:solidFill>
                            <a:srgbClr val="000000"/>
                          </a:solidFill>
                          <a:effectLst/>
                          <a:latin typeface="Segoe UI" panose="020B0502040204020203" pitchFamily="34" charset="0"/>
                        </a:rPr>
                        <a:t>Employee Name</a:t>
                      </a:r>
                      <a:endParaRPr lang="en-US" sz="12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spcAft>
                          <a:spcPts val="1200"/>
                        </a:spcAft>
                        <a:buNone/>
                      </a:pPr>
                      <a:r>
                        <a:rPr lang="en-US" sz="1100" b="1" i="0">
                          <a:solidFill>
                            <a:srgbClr val="000000"/>
                          </a:solidFill>
                          <a:effectLst/>
                          <a:latin typeface="Segoe UI" panose="020B0502040204020203" pitchFamily="34" charset="0"/>
                        </a:rPr>
                        <a:t>Message / Wishes</a:t>
                      </a:r>
                      <a:endParaRPr lang="en-US" sz="12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1952778405"/>
                  </a:ext>
                </a:extLst>
              </a:tr>
              <a:tr h="845661">
                <a:tc>
                  <a:txBody>
                    <a:bodyPr/>
                    <a:lstStyle/>
                    <a:p>
                      <a:pPr marL="0" marR="0" algn="l">
                        <a:spcAft>
                          <a:spcPts val="1200"/>
                        </a:spcAft>
                        <a:buNone/>
                      </a:pPr>
                      <a:r>
                        <a:rPr lang="en-US" sz="1100" b="0" i="0" dirty="0" err="1">
                          <a:solidFill>
                            <a:srgbClr val="000000"/>
                          </a:solidFill>
                          <a:effectLst/>
                          <a:latin typeface="Aptos Narrow"/>
                        </a:rPr>
                        <a:t>Hazur</a:t>
                      </a:r>
                      <a:r>
                        <a:rPr lang="en-US" sz="1100" b="0" i="0" dirty="0">
                          <a:solidFill>
                            <a:srgbClr val="000000"/>
                          </a:solidFill>
                          <a:effectLst/>
                          <a:latin typeface="Aptos Narrow"/>
                        </a:rPr>
                        <a:t> Saran </a:t>
                      </a:r>
                      <a:endParaRPr lang="en-US" sz="1200" b="0" i="0" dirty="0">
                        <a:solidFill>
                          <a:srgbClr val="000000"/>
                        </a:solidFill>
                        <a:effectLst/>
                        <a:latin typeface="Aptos Narrow"/>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fontAlgn="base">
                        <a:lnSpc>
                          <a:spcPts val="1500"/>
                        </a:lnSpc>
                        <a:buNone/>
                      </a:pPr>
                      <a:r>
                        <a:rPr lang="en-US" sz="1100" b="0" i="0">
                          <a:solidFill>
                            <a:srgbClr val="025AA2"/>
                          </a:solidFill>
                          <a:effectLst/>
                          <a:latin typeface="inherit"/>
                        </a:rPr>
                        <a:t>Congratulations</a:t>
                      </a:r>
                      <a:r>
                        <a:rPr lang="en-US" sz="1100" b="0" i="0">
                          <a:solidFill>
                            <a:srgbClr val="000000"/>
                          </a:solidFill>
                          <a:effectLst/>
                          <a:latin typeface="inherit"/>
                        </a:rPr>
                        <a:t> on completing 15 years with Wipro! Your dedication, consistency, and supportive nature have been invaluable to the team. It’s inspiring to see your commitment over the years. Wishing you many more milestones and continued success ahead.</a:t>
                      </a:r>
                      <a:endParaRPr lang="en-US" sz="12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19823213"/>
                  </a:ext>
                </a:extLst>
              </a:tr>
            </a:tbl>
          </a:graphicData>
        </a:graphic>
      </p:graphicFrame>
    </p:spTree>
    <p:extLst>
      <p:ext uri="{BB962C8B-B14F-4D97-AF65-F5344CB8AC3E}">
        <p14:creationId xmlns:p14="http://schemas.microsoft.com/office/powerpoint/2010/main" val="109857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F5E13-939D-FF70-4827-DC1D6D9592BA}"/>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5AA7A91-FA75-23B4-B1DF-FF613CD97D46}"/>
              </a:ext>
            </a:extLst>
          </p:cNvPr>
          <p:cNvGraphicFramePr>
            <a:graphicFrameLocks noGrp="1"/>
          </p:cNvGraphicFramePr>
          <p:nvPr/>
        </p:nvGraphicFramePr>
        <p:xfrm>
          <a:off x="0" y="2651760"/>
          <a:ext cx="12192000" cy="1554480"/>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1158945571"/>
                    </a:ext>
                  </a:extLst>
                </a:gridCol>
                <a:gridCol w="6096000">
                  <a:extLst>
                    <a:ext uri="{9D8B030D-6E8A-4147-A177-3AD203B41FA5}">
                      <a16:colId xmlns:a16="http://schemas.microsoft.com/office/drawing/2014/main" val="57593650"/>
                    </a:ext>
                  </a:extLst>
                </a:gridCol>
              </a:tblGrid>
              <a:tr h="0">
                <a:tc>
                  <a:txBody>
                    <a:bodyPr/>
                    <a:lstStyle/>
                    <a:p>
                      <a:pPr>
                        <a:buNone/>
                      </a:pPr>
                      <a:r>
                        <a:rPr lang="en-US" b="1"/>
                        <a:t>Employee Name</a:t>
                      </a:r>
                      <a:endParaRPr lang="en-US"/>
                    </a:p>
                  </a:txBody>
                  <a:tcPr anchor="ctr">
                    <a:lnL>
                      <a:noFill/>
                    </a:lnL>
                    <a:lnR>
                      <a:noFill/>
                    </a:lnR>
                    <a:lnT>
                      <a:noFill/>
                    </a:lnT>
                    <a:lnB>
                      <a:noFill/>
                    </a:lnB>
                    <a:noFill/>
                  </a:tcPr>
                </a:tc>
                <a:tc>
                  <a:txBody>
                    <a:bodyPr/>
                    <a:lstStyle/>
                    <a:p>
                      <a:pPr>
                        <a:buNone/>
                      </a:pPr>
                      <a:r>
                        <a:rPr lang="en-US" b="1"/>
                        <a:t>Message / Wishes</a:t>
                      </a:r>
                      <a:endParaRPr lang="en-US"/>
                    </a:p>
                  </a:txBody>
                  <a:tcPr anchor="ctr">
                    <a:lnL>
                      <a:noFill/>
                    </a:lnL>
                    <a:lnR>
                      <a:noFill/>
                    </a:lnR>
                    <a:lnT>
                      <a:noFill/>
                    </a:lnT>
                    <a:lnB>
                      <a:noFill/>
                    </a:lnB>
                    <a:noFill/>
                  </a:tcPr>
                </a:tc>
                <a:extLst>
                  <a:ext uri="{0D108BD9-81ED-4DB2-BD59-A6C34878D82A}">
                    <a16:rowId xmlns:a16="http://schemas.microsoft.com/office/drawing/2014/main" val="4051653046"/>
                  </a:ext>
                </a:extLst>
              </a:tr>
              <a:tr h="0">
                <a:tc>
                  <a:txBody>
                    <a:bodyPr/>
                    <a:lstStyle/>
                    <a:p>
                      <a:pPr>
                        <a:buNone/>
                      </a:pPr>
                      <a:r>
                        <a:rPr lang="en-US"/>
                        <a:t>Sohini Pal</a:t>
                      </a:r>
                    </a:p>
                  </a:txBody>
                  <a:tcPr anchor="ctr">
                    <a:lnL>
                      <a:noFill/>
                    </a:lnL>
                    <a:lnR>
                      <a:noFill/>
                    </a:lnR>
                    <a:lnT>
                      <a:noFill/>
                    </a:lnT>
                    <a:lnB>
                      <a:noFill/>
                    </a:lnB>
                    <a:noFill/>
                  </a:tcPr>
                </a:tc>
                <a:tc>
                  <a:txBody>
                    <a:bodyPr/>
                    <a:lstStyle/>
                    <a:p>
                      <a:pPr>
                        <a:buNone/>
                      </a:pPr>
                      <a:r>
                        <a:rPr lang="en-US"/>
                        <a:t>Congratulations on your work anniversary! Wishing you continued success, good health and</a:t>
                      </a:r>
                    </a:p>
                    <a:p>
                      <a:pPr>
                        <a:buNone/>
                      </a:pPr>
                      <a:r>
                        <a:rPr lang="en-US"/>
                        <a:t>many more milestones. Thank you for your inspiring leadership and constant support.</a:t>
                      </a:r>
                    </a:p>
                  </a:txBody>
                  <a:tcPr anchor="ctr">
                    <a:lnL>
                      <a:noFill/>
                    </a:lnL>
                    <a:lnR>
                      <a:noFill/>
                    </a:lnR>
                    <a:lnT>
                      <a:noFill/>
                    </a:lnT>
                    <a:lnB>
                      <a:noFill/>
                    </a:lnB>
                    <a:noFill/>
                  </a:tcPr>
                </a:tc>
                <a:extLst>
                  <a:ext uri="{0D108BD9-81ED-4DB2-BD59-A6C34878D82A}">
                    <a16:rowId xmlns:a16="http://schemas.microsoft.com/office/drawing/2014/main" val="1220116971"/>
                  </a:ext>
                </a:extLst>
              </a:tr>
            </a:tbl>
          </a:graphicData>
        </a:graphic>
      </p:graphicFrame>
    </p:spTree>
    <p:extLst>
      <p:ext uri="{BB962C8B-B14F-4D97-AF65-F5344CB8AC3E}">
        <p14:creationId xmlns:p14="http://schemas.microsoft.com/office/powerpoint/2010/main" val="659026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62</cp:revision>
  <dcterms:created xsi:type="dcterms:W3CDTF">2013-07-15T20:26:40Z</dcterms:created>
  <dcterms:modified xsi:type="dcterms:W3CDTF">2026-06-26T10:31:46Z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8c544ca-bb84-4280-906e-934547e1d30c_Enabled">
    <vt:lpwstr>true</vt:lpwstr>
  </property>
  <property fmtid="{D5CDD505-2E9C-101B-9397-08002B2CF9AE}" pid="3" name="MSIP_Label_a8c544ca-bb84-4280-906e-934547e1d30c_SetDate">
    <vt:lpwstr>2026-06-26T04:43:22Z</vt:lpwstr>
  </property>
  <property fmtid="{D5CDD505-2E9C-101B-9397-08002B2CF9AE}" pid="4" name="MSIP_Label_a8c544ca-bb84-4280-906e-934547e1d30c_Method">
    <vt:lpwstr>Privileged</vt:lpwstr>
  </property>
  <property fmtid="{D5CDD505-2E9C-101B-9397-08002B2CF9AE}" pid="5" name="MSIP_Label_a8c544ca-bb84-4280-906e-934547e1d30c_Name">
    <vt:lpwstr>Internal - General Use</vt:lpwstr>
  </property>
  <property fmtid="{D5CDD505-2E9C-101B-9397-08002B2CF9AE}" pid="6" name="MSIP_Label_a8c544ca-bb84-4280-906e-934547e1d30c_SiteId">
    <vt:lpwstr>258ac4e4-146a-411e-9dc8-79a9e12fd6da</vt:lpwstr>
  </property>
  <property fmtid="{D5CDD505-2E9C-101B-9397-08002B2CF9AE}" pid="7" name="MSIP_Label_a8c544ca-bb84-4280-906e-934547e1d30c_ActionId">
    <vt:lpwstr>97c90f6f-6190-4863-be3b-ac5e4abe3f02</vt:lpwstr>
  </property>
  <property fmtid="{D5CDD505-2E9C-101B-9397-08002B2CF9AE}" pid="8" name="MSIP_Label_a8c544ca-bb84-4280-906e-934547e1d30c_ContentBits">
    <vt:lpwstr>2</vt:lpwstr>
  </property>
  <property fmtid="{D5CDD505-2E9C-101B-9397-08002B2CF9AE}" pid="9" name="MSIP_Label_a8c544ca-bb84-4280-906e-934547e1d30c_Tag">
    <vt:lpwstr>10, 0, 1, 2</vt:lpwstr>
  </property>
  <property fmtid="{D5CDD505-2E9C-101B-9397-08002B2CF9AE}" pid="10" name="ClassificationContentMarkingFooterLocations">
    <vt:lpwstr>office theme:8</vt:lpwstr>
  </property>
  <property fmtid="{D5CDD505-2E9C-101B-9397-08002B2CF9AE}" pid="11" name="ClassificationContentMarkingFooterText">
    <vt:lpwstr>Internal - General Use</vt:lpwstr>
  </property>
</Properties>
</file>